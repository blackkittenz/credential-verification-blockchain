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ick Sans" charset="1" panose="00000000000000000000"/>
      <p:regular r:id="rId16"/>
    </p:embeddedFont>
    <p:embeddedFont>
      <p:font typeface="Tomorrow Bold" charset="1" panose="00000000000000000000"/>
      <p:regular r:id="rId17"/>
    </p:embeddedFont>
    <p:embeddedFont>
      <p:font typeface="Tomorrow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5883" y="0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0" y="0"/>
                </a:moveTo>
                <a:lnTo>
                  <a:pt x="7211783" y="0"/>
                </a:lnTo>
                <a:lnTo>
                  <a:pt x="7211783" y="6643855"/>
                </a:lnTo>
                <a:lnTo>
                  <a:pt x="0" y="6643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0636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-2792650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5693921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true" rot="0">
            <a:off x="9937207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true" rot="0">
            <a:off x="14180492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0410728" y="2058800"/>
            <a:ext cx="6169400" cy="61694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30315" y="2278387"/>
            <a:ext cx="5730226" cy="57302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076217" y="2623488"/>
            <a:ext cx="4838423" cy="5040024"/>
          </a:xfrm>
          <a:custGeom>
            <a:avLst/>
            <a:gdLst/>
            <a:ahLst/>
            <a:cxnLst/>
            <a:rect r="r" b="b" t="t" l="l"/>
            <a:pathLst>
              <a:path h="5040024" w="4838423">
                <a:moveTo>
                  <a:pt x="0" y="0"/>
                </a:moveTo>
                <a:lnTo>
                  <a:pt x="4838423" y="0"/>
                </a:lnTo>
                <a:lnTo>
                  <a:pt x="4838423" y="5040024"/>
                </a:lnTo>
                <a:lnTo>
                  <a:pt x="0" y="5040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97040" y="-2073393"/>
            <a:ext cx="4696881" cy="46968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50000">
                  <a:srgbClr val="A21AF8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32933" y="2949233"/>
            <a:ext cx="9277795" cy="324547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6440"/>
              </a:lnSpc>
            </a:pPr>
            <a:r>
              <a:rPr sz="4200" b="1">
                <a:solidFill>
                  <a:srgbClr val="FFFFFF"/>
                </a:solidFill>
                <a:latin typeface="Brick Sans"/>
              </a:rPr>
              <a:t>SISTEM VERIFIKASI IJAZAH &amp; KREDENSIAL AKADEMIK TERDESENTRALISASI (UNSIL)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6643855"/>
            <a:ext cx="9601615" cy="2795639"/>
            <a:chOff x="0" y="0"/>
            <a:chExt cx="12802153" cy="372751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802153" cy="3727518"/>
              <a:chOff x="0" y="0"/>
              <a:chExt cx="5057641" cy="1472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2184" y="0"/>
                <a:ext cx="5053272" cy="1472600"/>
              </a:xfrm>
              <a:custGeom>
                <a:avLst/>
                <a:gdLst/>
                <a:ahLst/>
                <a:cxnLst/>
                <a:rect r="r" b="b" t="t" l="l"/>
                <a:pathLst>
                  <a:path h="1472600" w="5053272">
                    <a:moveTo>
                      <a:pt x="5051167" y="751845"/>
                    </a:moveTo>
                    <a:lnTo>
                      <a:pt x="4856547" y="1457055"/>
                    </a:lnTo>
                    <a:cubicBezTo>
                      <a:pt x="4854013" y="1466239"/>
                      <a:pt x="4845658" y="1472600"/>
                      <a:pt x="4836131" y="1472600"/>
                    </a:cubicBezTo>
                    <a:lnTo>
                      <a:pt x="217142" y="1472600"/>
                    </a:lnTo>
                    <a:cubicBezTo>
                      <a:pt x="207615" y="1472600"/>
                      <a:pt x="199260" y="1466239"/>
                      <a:pt x="196726" y="1457055"/>
                    </a:cubicBezTo>
                    <a:lnTo>
                      <a:pt x="2106" y="751845"/>
                    </a:lnTo>
                    <a:cubicBezTo>
                      <a:pt x="-701" y="741672"/>
                      <a:pt x="-701" y="730928"/>
                      <a:pt x="2106" y="720755"/>
                    </a:cubicBezTo>
                    <a:lnTo>
                      <a:pt x="196726" y="15545"/>
                    </a:lnTo>
                    <a:cubicBezTo>
                      <a:pt x="199260" y="6361"/>
                      <a:pt x="207615" y="0"/>
                      <a:pt x="217142" y="0"/>
                    </a:cubicBezTo>
                    <a:lnTo>
                      <a:pt x="4836131" y="0"/>
                    </a:lnTo>
                    <a:cubicBezTo>
                      <a:pt x="4845658" y="0"/>
                      <a:pt x="4854013" y="6361"/>
                      <a:pt x="4856547" y="15545"/>
                    </a:cubicBezTo>
                    <a:lnTo>
                      <a:pt x="5051167" y="720755"/>
                    </a:lnTo>
                    <a:cubicBezTo>
                      <a:pt x="5053974" y="730928"/>
                      <a:pt x="5053974" y="741672"/>
                      <a:pt x="5051167" y="75184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BC21">
                      <a:alpha val="100000"/>
                    </a:srgbClr>
                  </a:gs>
                  <a:gs pos="100000">
                    <a:srgbClr val="FF6F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14300" y="-38100"/>
                <a:ext cx="4829041" cy="1510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17939" y="105868"/>
              <a:ext cx="11366275" cy="3468158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sz="1800" b="1">
                  <a:solidFill>
                    <a:srgbClr val="000000"/>
                  </a:solidFill>
                  <a:latin typeface="Tomorrow Bold"/>
                </a:rPr>
                <a:t>DISUSUN OLEH:</a:t>
              </a:r>
            </a:p>
            <a:p>
              <a:r>
                <a:rPr sz="1800" b="1">
                  <a:solidFill>
                    <a:srgbClr val="000000"/>
                  </a:solidFill>
                  <a:latin typeface="Tomorrow Bold"/>
                </a:rPr>
                <a:t/>
              </a:r>
            </a:p>
            <a:p>
              <a:r>
                <a:rPr sz="1800" b="1">
                  <a:solidFill>
                    <a:srgbClr val="000000"/>
                  </a:solidFill>
                  <a:latin typeface="Tomorrow Bold"/>
                </a:rPr>
                <a:t>FRIZA TRI MAULANA (237006125) — Security Auditor &amp; QA</a:t>
              </a:r>
            </a:p>
            <a:p>
              <a:r>
                <a:rPr sz="1800" b="1">
                  <a:solidFill>
                    <a:srgbClr val="000000"/>
                  </a:solidFill>
                  <a:latin typeface="Tomorrow Bold"/>
                </a:rPr>
                <a:t>GITA SYAFIRA AZZAHRA (237006126) — Smart Contract &amp; Infra</a:t>
              </a:r>
            </a:p>
            <a:p>
              <a:r>
                <a:rPr sz="1800" b="1">
                  <a:solidFill>
                    <a:srgbClr val="000000"/>
                  </a:solidFill>
                  <a:latin typeface="Tomorrow Bold"/>
                </a:rPr>
                <a:t>M. ZIKRI. A (237006127) — DApp Frontend Integrator</a:t>
              </a:r>
            </a:p>
            <a:p>
              <a:r>
                <a:rPr sz="1800" b="1">
                  <a:solidFill>
                    <a:srgbClr val="000000"/>
                  </a:solidFill>
                  <a:latin typeface="Tomorrow Bold"/>
                </a:rPr>
                <a:t>MUHAMMAD SYAHRAN M. T. (237006143) — Enterprise Architect &amp; Docs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34399" y="1877143"/>
            <a:ext cx="976329" cy="9763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5883" y="0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0" y="0"/>
                </a:moveTo>
                <a:lnTo>
                  <a:pt x="7211783" y="0"/>
                </a:lnTo>
                <a:lnTo>
                  <a:pt x="7211783" y="6643855"/>
                </a:lnTo>
                <a:lnTo>
                  <a:pt x="0" y="6643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0636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5693921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9937207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true" rot="0">
            <a:off x="14180492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4778646" y="1028700"/>
            <a:ext cx="12480654" cy="8229600"/>
            <a:chOff x="0" y="0"/>
            <a:chExt cx="328708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87086" cy="2167467"/>
            </a:xfrm>
            <a:custGeom>
              <a:avLst/>
              <a:gdLst/>
              <a:ahLst/>
              <a:cxnLst/>
              <a:rect r="r" b="b" t="t" l="l"/>
              <a:pathLst>
                <a:path h="2167467" w="3287086">
                  <a:moveTo>
                    <a:pt x="31016" y="0"/>
                  </a:moveTo>
                  <a:lnTo>
                    <a:pt x="3256070" y="0"/>
                  </a:lnTo>
                  <a:cubicBezTo>
                    <a:pt x="3264296" y="0"/>
                    <a:pt x="3272185" y="3268"/>
                    <a:pt x="3278001" y="9084"/>
                  </a:cubicBezTo>
                  <a:cubicBezTo>
                    <a:pt x="3283818" y="14901"/>
                    <a:pt x="3287086" y="22790"/>
                    <a:pt x="3287086" y="31016"/>
                  </a:cubicBezTo>
                  <a:lnTo>
                    <a:pt x="3287086" y="2136451"/>
                  </a:lnTo>
                  <a:cubicBezTo>
                    <a:pt x="3287086" y="2153581"/>
                    <a:pt x="3273199" y="2167467"/>
                    <a:pt x="3256070" y="2167467"/>
                  </a:cubicBezTo>
                  <a:lnTo>
                    <a:pt x="31016" y="2167467"/>
                  </a:lnTo>
                  <a:cubicBezTo>
                    <a:pt x="13886" y="2167467"/>
                    <a:pt x="0" y="2153581"/>
                    <a:pt x="0" y="2136451"/>
                  </a:cubicBezTo>
                  <a:lnTo>
                    <a:pt x="0" y="31016"/>
                  </a:lnTo>
                  <a:cubicBezTo>
                    <a:pt x="0" y="13886"/>
                    <a:pt x="13886" y="0"/>
                    <a:pt x="310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8708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7072572" y="-482522"/>
            <a:ext cx="11252045" cy="1125204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53806" y="1503095"/>
            <a:ext cx="5972076" cy="11614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sz="5400" b="1">
                <a:solidFill>
                  <a:srgbClr val="8D20EA"/>
                </a:solidFill>
                <a:latin typeface="Brick Sans"/>
              </a:rPr>
              <a:t>DAFTAR ISI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991509" y="810888"/>
            <a:ext cx="1765414" cy="176541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19219" y="7200900"/>
            <a:ext cx="741392" cy="74139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53806" y="3321928"/>
            <a:ext cx="1274333" cy="127433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53806" y="5143500"/>
            <a:ext cx="1274333" cy="127433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53806" y="6965072"/>
            <a:ext cx="1274333" cy="127433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25838" y="3321928"/>
            <a:ext cx="1274333" cy="127433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25838" y="5143500"/>
            <a:ext cx="1274333" cy="127433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25838" y="6965072"/>
            <a:ext cx="1274333" cy="127433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018436" y="3406644"/>
            <a:ext cx="2584189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499"/>
              </a:lnSpc>
            </a:pPr>
            <a:r>
              <a:rPr sz="1900" b="1">
                <a:solidFill>
                  <a:srgbClr val="000000"/>
                </a:solidFill>
                <a:latin typeface="Tomorrow"/>
              </a:rPr>
              <a:t>LATAR BELAKANG &amp; TUJUAN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28521" y="3264778"/>
            <a:ext cx="3558258" cy="1308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sz="1900" b="1">
                <a:solidFill>
                  <a:srgbClr val="000000"/>
                </a:solidFill>
                <a:latin typeface="Tomorrow"/>
              </a:rPr>
              <a:t>SECURITY AUDIT (7 GATES)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018436" y="5197344"/>
            <a:ext cx="4407447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sz="1900" b="1">
                <a:solidFill>
                  <a:srgbClr val="000000"/>
                </a:solidFill>
                <a:latin typeface="Tomorrow"/>
              </a:rPr>
              <a:t>ARSITEKTUR &amp; ZERO PII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28521" y="5126411"/>
            <a:ext cx="3558258" cy="1308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sz="1900" b="1">
                <a:solidFill>
                  <a:srgbClr val="000000"/>
                </a:solidFill>
                <a:latin typeface="Tomorrow"/>
              </a:rPr>
              <a:t>TESTING &amp; 4-FASE DEBUGGING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18436" y="7072342"/>
            <a:ext cx="3558258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sz="1900" b="1">
                <a:solidFill>
                  <a:srgbClr val="000000"/>
                </a:solidFill>
                <a:latin typeface="Tomorrow"/>
              </a:rPr>
              <a:t>SMART CONTRACT &amp; SIKLUS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28521" y="7072342"/>
            <a:ext cx="3558258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sz="1900" b="1">
                <a:solidFill>
                  <a:srgbClr val="000000"/>
                </a:solidFill>
                <a:latin typeface="Tomorrow"/>
              </a:rPr>
              <a:t>DEMO DAPP &amp; EVALUASI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52571" y="3531478"/>
            <a:ext cx="107680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52571" y="5349744"/>
            <a:ext cx="107680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13008" y="7155671"/>
            <a:ext cx="107680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44385" y="3552645"/>
            <a:ext cx="107680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44385" y="5370911"/>
            <a:ext cx="107680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304822" y="7176838"/>
            <a:ext cx="107680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6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745388" y="1808357"/>
            <a:ext cx="741392" cy="741392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50636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6448168" y="4660978"/>
            <a:ext cx="11252045" cy="112520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5693921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true" rot="0">
            <a:off x="9937207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true" rot="0">
            <a:off x="14180492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581283" y="-2872256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0" y="0"/>
                </a:moveTo>
                <a:lnTo>
                  <a:pt x="7211783" y="0"/>
                </a:lnTo>
                <a:lnTo>
                  <a:pt x="7211783" y="6643855"/>
                </a:lnTo>
                <a:lnTo>
                  <a:pt x="0" y="6643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3001815"/>
            <a:ext cx="13732986" cy="6256485"/>
            <a:chOff x="0" y="0"/>
            <a:chExt cx="3616918" cy="16477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6918" cy="1647798"/>
            </a:xfrm>
            <a:custGeom>
              <a:avLst/>
              <a:gdLst/>
              <a:ahLst/>
              <a:cxnLst/>
              <a:rect r="r" b="b" t="t" l="l"/>
              <a:pathLst>
                <a:path h="1647798" w="3616918">
                  <a:moveTo>
                    <a:pt x="28187" y="0"/>
                  </a:moveTo>
                  <a:lnTo>
                    <a:pt x="3588731" y="0"/>
                  </a:lnTo>
                  <a:cubicBezTo>
                    <a:pt x="3604298" y="0"/>
                    <a:pt x="3616918" y="12620"/>
                    <a:pt x="3616918" y="28187"/>
                  </a:cubicBezTo>
                  <a:lnTo>
                    <a:pt x="3616918" y="1619611"/>
                  </a:lnTo>
                  <a:cubicBezTo>
                    <a:pt x="3616918" y="1627087"/>
                    <a:pt x="3613948" y="1634256"/>
                    <a:pt x="3608662" y="1639543"/>
                  </a:cubicBezTo>
                  <a:cubicBezTo>
                    <a:pt x="3603376" y="1644829"/>
                    <a:pt x="3596206" y="1647798"/>
                    <a:pt x="3588731" y="1647798"/>
                  </a:cubicBezTo>
                  <a:lnTo>
                    <a:pt x="28187" y="1647798"/>
                  </a:lnTo>
                  <a:cubicBezTo>
                    <a:pt x="20712" y="1647798"/>
                    <a:pt x="13542" y="1644829"/>
                    <a:pt x="8256" y="1639543"/>
                  </a:cubicBezTo>
                  <a:cubicBezTo>
                    <a:pt x="2970" y="1634256"/>
                    <a:pt x="0" y="1627087"/>
                    <a:pt x="0" y="1619611"/>
                  </a:cubicBezTo>
                  <a:lnTo>
                    <a:pt x="0" y="28187"/>
                  </a:lnTo>
                  <a:cubicBezTo>
                    <a:pt x="0" y="20712"/>
                    <a:pt x="2970" y="13542"/>
                    <a:pt x="8256" y="8256"/>
                  </a:cubicBezTo>
                  <a:cubicBezTo>
                    <a:pt x="13542" y="2970"/>
                    <a:pt x="20712" y="0"/>
                    <a:pt x="28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616918" cy="1685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413689" y="4269189"/>
            <a:ext cx="1748623" cy="174862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192320" y="3771599"/>
            <a:ext cx="6243756" cy="5486701"/>
          </a:xfrm>
          <a:custGeom>
            <a:avLst/>
            <a:gdLst/>
            <a:ahLst/>
            <a:cxnLst/>
            <a:rect r="r" b="b" t="t" l="l"/>
            <a:pathLst>
              <a:path h="5486701" w="6243756">
                <a:moveTo>
                  <a:pt x="0" y="0"/>
                </a:moveTo>
                <a:lnTo>
                  <a:pt x="6243756" y="0"/>
                </a:lnTo>
                <a:lnTo>
                  <a:pt x="6243756" y="5486701"/>
                </a:lnTo>
                <a:lnTo>
                  <a:pt x="0" y="5486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003572"/>
            <a:ext cx="11391899" cy="11614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sz="4600" b="1">
                <a:solidFill>
                  <a:srgbClr val="FFFFFF"/>
                </a:solidFill>
                <a:latin typeface="Brick Sans"/>
              </a:rPr>
              <a:t>LATAR BELAKANG &amp; TUJUAN PROYEK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4540" y="3339799"/>
            <a:ext cx="10638953" cy="34988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499"/>
              </a:lnSpc>
            </a:pPr>
            <a:r>
              <a:rPr sz="1700">
                <a:solidFill>
                  <a:srgbClr val="000000"/>
                </a:solidFill>
                <a:latin typeface="Tomorrow"/>
              </a:rPr>
              <a:t>• Masalah Utama: Kredensial akademik fisik &amp; PDF rentan manipulasi nilai/gelar. Verifikasi manual ke perguruan tinggi lambat, memakan biaya, dan rentan sengketa.</a:t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>• Kebutuhan Trust: Dibutuhkan sistem verifikasi yang transparan, deterministik, dan dapat diakses publik secara gratis (0 gas fee) tanpa perantara pihak ketiga.</a:t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>• Tantangan Privasi (UU PDP No. 27/2022): Karakteristik blockchain yang abadi (immutable) bertentangan dengan hak Right to be Forgotten jika data pribadi (Nama, NIK, Nilai) dicatat on-chain.</a:t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>• Solusi: Membangun sistem berbasis Smart Contract EVM &amp; Web3 DApp yang memisahkan data off-chain dan on-chain (Zero PII on-chain).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180492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3517978" y="5335333"/>
            <a:ext cx="11252045" cy="112520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-1094596" y="6846556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0" y="4114800"/>
                </a:moveTo>
                <a:lnTo>
                  <a:pt x="4612574" y="4114800"/>
                </a:lnTo>
                <a:lnTo>
                  <a:pt x="461257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328984" y="3378086"/>
            <a:ext cx="1765414" cy="176541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89247" y="4763549"/>
            <a:ext cx="1765414" cy="17654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01815"/>
            <a:ext cx="16230600" cy="6256485"/>
            <a:chOff x="0" y="0"/>
            <a:chExt cx="4274726" cy="16477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1647798"/>
            </a:xfrm>
            <a:custGeom>
              <a:avLst/>
              <a:gdLst/>
              <a:ahLst/>
              <a:cxnLst/>
              <a:rect r="r" b="b" t="t" l="l"/>
              <a:pathLst>
                <a:path h="1647798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1623949"/>
                  </a:lnTo>
                  <a:cubicBezTo>
                    <a:pt x="4274726" y="1630274"/>
                    <a:pt x="4272213" y="1636340"/>
                    <a:pt x="4267741" y="1640813"/>
                  </a:cubicBezTo>
                  <a:cubicBezTo>
                    <a:pt x="4263268" y="1645286"/>
                    <a:pt x="4257201" y="1647798"/>
                    <a:pt x="4250876" y="1647798"/>
                  </a:cubicBezTo>
                  <a:lnTo>
                    <a:pt x="23850" y="1647798"/>
                  </a:lnTo>
                  <a:cubicBezTo>
                    <a:pt x="17524" y="1647798"/>
                    <a:pt x="11458" y="1645286"/>
                    <a:pt x="6985" y="1640813"/>
                  </a:cubicBezTo>
                  <a:cubicBezTo>
                    <a:pt x="2513" y="1636340"/>
                    <a:pt x="0" y="1630274"/>
                    <a:pt x="0" y="1623949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74726" cy="1685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164131" y="-4195992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0" y="0"/>
                </a:moveTo>
                <a:lnTo>
                  <a:pt x="7211783" y="0"/>
                </a:lnTo>
                <a:lnTo>
                  <a:pt x="7211783" y="6643855"/>
                </a:lnTo>
                <a:lnTo>
                  <a:pt x="0" y="6643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0" y="-4195992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7211783" y="0"/>
                </a:moveTo>
                <a:lnTo>
                  <a:pt x="0" y="0"/>
                </a:lnTo>
                <a:lnTo>
                  <a:pt x="0" y="6643855"/>
                </a:lnTo>
                <a:lnTo>
                  <a:pt x="7211783" y="6643855"/>
                </a:lnTo>
                <a:lnTo>
                  <a:pt x="72117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48050" y="1003572"/>
            <a:ext cx="11391899" cy="11614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8959"/>
              </a:lnSpc>
            </a:pPr>
            <a:r>
              <a:rPr sz="4400" b="1">
                <a:solidFill>
                  <a:srgbClr val="FFFFFF"/>
                </a:solidFill>
                <a:latin typeface="Brick Sans"/>
              </a:rPr>
              <a:t>ARSITEKTUR &amp; PRIVACY BY DESIGN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4540" y="3339799"/>
            <a:ext cx="15234563" cy="1308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499"/>
              </a:lnSpc>
            </a:pPr>
            <a:r>
              <a:rPr sz="1800">
                <a:solidFill>
                  <a:srgbClr val="000000"/>
                </a:solidFill>
                <a:latin typeface="Tomorrow"/>
              </a:rPr>
              <a:t>Pemisahan Data Off-Chain dan On-Chain Menjamin Kepatuhan Regulasi UU PDP No. 27/2022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84368" y="5143500"/>
            <a:ext cx="3649464" cy="1493684"/>
            <a:chOff x="0" y="0"/>
            <a:chExt cx="961176" cy="3933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1176" cy="393398"/>
            </a:xfrm>
            <a:custGeom>
              <a:avLst/>
              <a:gdLst/>
              <a:ahLst/>
              <a:cxnLst/>
              <a:rect r="r" b="b" t="t" l="l"/>
              <a:pathLst>
                <a:path h="393398" w="961176">
                  <a:moveTo>
                    <a:pt x="106069" y="0"/>
                  </a:moveTo>
                  <a:lnTo>
                    <a:pt x="855106" y="0"/>
                  </a:lnTo>
                  <a:cubicBezTo>
                    <a:pt x="883238" y="0"/>
                    <a:pt x="910217" y="11175"/>
                    <a:pt x="930109" y="31067"/>
                  </a:cubicBezTo>
                  <a:cubicBezTo>
                    <a:pt x="950001" y="50959"/>
                    <a:pt x="961176" y="77938"/>
                    <a:pt x="961176" y="106069"/>
                  </a:cubicBezTo>
                  <a:lnTo>
                    <a:pt x="961176" y="287329"/>
                  </a:lnTo>
                  <a:cubicBezTo>
                    <a:pt x="961176" y="315460"/>
                    <a:pt x="950001" y="342439"/>
                    <a:pt x="930109" y="362331"/>
                  </a:cubicBezTo>
                  <a:cubicBezTo>
                    <a:pt x="910217" y="382223"/>
                    <a:pt x="883238" y="393398"/>
                    <a:pt x="855106" y="393398"/>
                  </a:cubicBezTo>
                  <a:lnTo>
                    <a:pt x="106069" y="393398"/>
                  </a:lnTo>
                  <a:cubicBezTo>
                    <a:pt x="77938" y="393398"/>
                    <a:pt x="50959" y="382223"/>
                    <a:pt x="31067" y="362331"/>
                  </a:cubicBezTo>
                  <a:cubicBezTo>
                    <a:pt x="11175" y="342439"/>
                    <a:pt x="0" y="315460"/>
                    <a:pt x="0" y="287329"/>
                  </a:cubicBezTo>
                  <a:lnTo>
                    <a:pt x="0" y="106069"/>
                  </a:lnTo>
                  <a:cubicBezTo>
                    <a:pt x="0" y="77938"/>
                    <a:pt x="11175" y="50959"/>
                    <a:pt x="31067" y="31067"/>
                  </a:cubicBezTo>
                  <a:cubicBezTo>
                    <a:pt x="50959" y="11175"/>
                    <a:pt x="77938" y="0"/>
                    <a:pt x="1060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1176" cy="4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86126" y="5143500"/>
            <a:ext cx="3649464" cy="1493684"/>
            <a:chOff x="0" y="0"/>
            <a:chExt cx="961176" cy="3933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1176" cy="393398"/>
            </a:xfrm>
            <a:custGeom>
              <a:avLst/>
              <a:gdLst/>
              <a:ahLst/>
              <a:cxnLst/>
              <a:rect r="r" b="b" t="t" l="l"/>
              <a:pathLst>
                <a:path h="393398" w="961176">
                  <a:moveTo>
                    <a:pt x="106069" y="0"/>
                  </a:moveTo>
                  <a:lnTo>
                    <a:pt x="855106" y="0"/>
                  </a:lnTo>
                  <a:cubicBezTo>
                    <a:pt x="883238" y="0"/>
                    <a:pt x="910217" y="11175"/>
                    <a:pt x="930109" y="31067"/>
                  </a:cubicBezTo>
                  <a:cubicBezTo>
                    <a:pt x="950001" y="50959"/>
                    <a:pt x="961176" y="77938"/>
                    <a:pt x="961176" y="106069"/>
                  </a:cubicBezTo>
                  <a:lnTo>
                    <a:pt x="961176" y="287329"/>
                  </a:lnTo>
                  <a:cubicBezTo>
                    <a:pt x="961176" y="315460"/>
                    <a:pt x="950001" y="342439"/>
                    <a:pt x="930109" y="362331"/>
                  </a:cubicBezTo>
                  <a:cubicBezTo>
                    <a:pt x="910217" y="382223"/>
                    <a:pt x="883238" y="393398"/>
                    <a:pt x="855106" y="393398"/>
                  </a:cubicBezTo>
                  <a:lnTo>
                    <a:pt x="106069" y="393398"/>
                  </a:lnTo>
                  <a:cubicBezTo>
                    <a:pt x="77938" y="393398"/>
                    <a:pt x="50959" y="382223"/>
                    <a:pt x="31067" y="362331"/>
                  </a:cubicBezTo>
                  <a:cubicBezTo>
                    <a:pt x="11175" y="342439"/>
                    <a:pt x="0" y="315460"/>
                    <a:pt x="0" y="287329"/>
                  </a:cubicBezTo>
                  <a:lnTo>
                    <a:pt x="0" y="106069"/>
                  </a:lnTo>
                  <a:cubicBezTo>
                    <a:pt x="0" y="77938"/>
                    <a:pt x="11175" y="50959"/>
                    <a:pt x="31067" y="31067"/>
                  </a:cubicBezTo>
                  <a:cubicBezTo>
                    <a:pt x="50959" y="11175"/>
                    <a:pt x="77938" y="0"/>
                    <a:pt x="1060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61176" cy="4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87883" y="5143500"/>
            <a:ext cx="3649464" cy="1493684"/>
            <a:chOff x="0" y="0"/>
            <a:chExt cx="961176" cy="3933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1176" cy="393398"/>
            </a:xfrm>
            <a:custGeom>
              <a:avLst/>
              <a:gdLst/>
              <a:ahLst/>
              <a:cxnLst/>
              <a:rect r="r" b="b" t="t" l="l"/>
              <a:pathLst>
                <a:path h="393398" w="961176">
                  <a:moveTo>
                    <a:pt x="106069" y="0"/>
                  </a:moveTo>
                  <a:lnTo>
                    <a:pt x="855106" y="0"/>
                  </a:lnTo>
                  <a:cubicBezTo>
                    <a:pt x="883238" y="0"/>
                    <a:pt x="910217" y="11175"/>
                    <a:pt x="930109" y="31067"/>
                  </a:cubicBezTo>
                  <a:cubicBezTo>
                    <a:pt x="950001" y="50959"/>
                    <a:pt x="961176" y="77938"/>
                    <a:pt x="961176" y="106069"/>
                  </a:cubicBezTo>
                  <a:lnTo>
                    <a:pt x="961176" y="287329"/>
                  </a:lnTo>
                  <a:cubicBezTo>
                    <a:pt x="961176" y="315460"/>
                    <a:pt x="950001" y="342439"/>
                    <a:pt x="930109" y="362331"/>
                  </a:cubicBezTo>
                  <a:cubicBezTo>
                    <a:pt x="910217" y="382223"/>
                    <a:pt x="883238" y="393398"/>
                    <a:pt x="855106" y="393398"/>
                  </a:cubicBezTo>
                  <a:lnTo>
                    <a:pt x="106069" y="393398"/>
                  </a:lnTo>
                  <a:cubicBezTo>
                    <a:pt x="77938" y="393398"/>
                    <a:pt x="50959" y="382223"/>
                    <a:pt x="31067" y="362331"/>
                  </a:cubicBezTo>
                  <a:cubicBezTo>
                    <a:pt x="11175" y="342439"/>
                    <a:pt x="0" y="315460"/>
                    <a:pt x="0" y="287329"/>
                  </a:cubicBezTo>
                  <a:lnTo>
                    <a:pt x="0" y="106069"/>
                  </a:lnTo>
                  <a:cubicBezTo>
                    <a:pt x="0" y="77938"/>
                    <a:pt x="11175" y="50959"/>
                    <a:pt x="31067" y="31067"/>
                  </a:cubicBezTo>
                  <a:cubicBezTo>
                    <a:pt x="50959" y="11175"/>
                    <a:pt x="77938" y="0"/>
                    <a:pt x="1060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61176" cy="4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189640" y="5143500"/>
            <a:ext cx="3649464" cy="1493684"/>
            <a:chOff x="0" y="0"/>
            <a:chExt cx="961176" cy="3933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1176" cy="393398"/>
            </a:xfrm>
            <a:custGeom>
              <a:avLst/>
              <a:gdLst/>
              <a:ahLst/>
              <a:cxnLst/>
              <a:rect r="r" b="b" t="t" l="l"/>
              <a:pathLst>
                <a:path h="393398" w="961176">
                  <a:moveTo>
                    <a:pt x="106069" y="0"/>
                  </a:moveTo>
                  <a:lnTo>
                    <a:pt x="855106" y="0"/>
                  </a:lnTo>
                  <a:cubicBezTo>
                    <a:pt x="883238" y="0"/>
                    <a:pt x="910217" y="11175"/>
                    <a:pt x="930109" y="31067"/>
                  </a:cubicBezTo>
                  <a:cubicBezTo>
                    <a:pt x="950001" y="50959"/>
                    <a:pt x="961176" y="77938"/>
                    <a:pt x="961176" y="106069"/>
                  </a:cubicBezTo>
                  <a:lnTo>
                    <a:pt x="961176" y="287329"/>
                  </a:lnTo>
                  <a:cubicBezTo>
                    <a:pt x="961176" y="315460"/>
                    <a:pt x="950001" y="342439"/>
                    <a:pt x="930109" y="362331"/>
                  </a:cubicBezTo>
                  <a:cubicBezTo>
                    <a:pt x="910217" y="382223"/>
                    <a:pt x="883238" y="393398"/>
                    <a:pt x="855106" y="393398"/>
                  </a:cubicBezTo>
                  <a:lnTo>
                    <a:pt x="106069" y="393398"/>
                  </a:lnTo>
                  <a:cubicBezTo>
                    <a:pt x="77938" y="393398"/>
                    <a:pt x="50959" y="382223"/>
                    <a:pt x="31067" y="362331"/>
                  </a:cubicBezTo>
                  <a:cubicBezTo>
                    <a:pt x="11175" y="342439"/>
                    <a:pt x="0" y="315460"/>
                    <a:pt x="0" y="287329"/>
                  </a:cubicBezTo>
                  <a:lnTo>
                    <a:pt x="0" y="106069"/>
                  </a:lnTo>
                  <a:cubicBezTo>
                    <a:pt x="0" y="77938"/>
                    <a:pt x="11175" y="50959"/>
                    <a:pt x="31067" y="31067"/>
                  </a:cubicBezTo>
                  <a:cubicBezTo>
                    <a:pt x="50959" y="11175"/>
                    <a:pt x="77938" y="0"/>
                    <a:pt x="1060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61176" cy="4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94398" y="5426792"/>
            <a:ext cx="2394201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OFF-CHAIN LAYER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00404" y="5645867"/>
            <a:ext cx="3020907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CLIENT HASHING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34968" y="5426792"/>
            <a:ext cx="2394201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ON-CHAIN LEDGER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36646" y="5426792"/>
            <a:ext cx="2750133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ZERO-GAS QUERY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4368" y="6922934"/>
            <a:ext cx="3649464" cy="1308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499"/>
              </a:lnSpc>
            </a:pPr>
            <a:r>
              <a:rPr sz="1400">
                <a:solidFill>
                  <a:srgbClr val="000000"/>
                </a:solidFill>
                <a:latin typeface="Tomorrow"/>
              </a:rPr>
              <a:t>Berkas fisik PDF dan data pribadi mahasiswa (Nama, NIK, Nilai) disimpan mandiri oleh mahasiswa (Self-Sovereign Identity).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87051" y="6922934"/>
            <a:ext cx="3649464" cy="1308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499"/>
              </a:lnSpc>
            </a:pPr>
            <a:r>
              <a:rPr sz="1400">
                <a:solidFill>
                  <a:srgbClr val="000000"/>
                </a:solidFill>
                <a:latin typeface="Tomorrow"/>
              </a:rPr>
              <a:t>Peramban menghitung sidik jari Keccak-256 secara lokal di memori klien sebelum transaksi dikirim ke jaringan.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9399" y="6922934"/>
            <a:ext cx="3649464" cy="17462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499"/>
              </a:lnSpc>
            </a:pPr>
            <a:r>
              <a:rPr sz="1400">
                <a:solidFill>
                  <a:srgbClr val="000000"/>
                </a:solidFill>
                <a:latin typeface="Tomorrow"/>
              </a:rPr>
              <a:t>Buku besar blockchain hanya mencatat digest hash 32-byte tanpa atribut identitas diri mahasiswa (Zero PII).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89640" y="6922934"/>
            <a:ext cx="3649464" cy="17462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499"/>
              </a:lnSpc>
            </a:pPr>
            <a:r>
              <a:rPr sz="1400">
                <a:solidFill>
                  <a:srgbClr val="000000"/>
                </a:solidFill>
                <a:latin typeface="Tomorrow"/>
              </a:rPr>
              <a:t>HRD dan publik memvalidasi keabsahan dokumen via view function secara gratis (0 gas fee, tanpa wallet MetaMask).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6143492" y="8379457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9937207" y="8379457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4180492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7574813" y="3001815"/>
            <a:ext cx="1765414" cy="17654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17978" y="3001815"/>
            <a:ext cx="13732986" cy="6256485"/>
            <a:chOff x="0" y="0"/>
            <a:chExt cx="3616918" cy="16477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6918" cy="1647798"/>
            </a:xfrm>
            <a:custGeom>
              <a:avLst/>
              <a:gdLst/>
              <a:ahLst/>
              <a:cxnLst/>
              <a:rect r="r" b="b" t="t" l="l"/>
              <a:pathLst>
                <a:path h="1647798" w="3616918">
                  <a:moveTo>
                    <a:pt x="28187" y="0"/>
                  </a:moveTo>
                  <a:lnTo>
                    <a:pt x="3588731" y="0"/>
                  </a:lnTo>
                  <a:cubicBezTo>
                    <a:pt x="3604298" y="0"/>
                    <a:pt x="3616918" y="12620"/>
                    <a:pt x="3616918" y="28187"/>
                  </a:cubicBezTo>
                  <a:lnTo>
                    <a:pt x="3616918" y="1619611"/>
                  </a:lnTo>
                  <a:cubicBezTo>
                    <a:pt x="3616918" y="1627087"/>
                    <a:pt x="3613948" y="1634256"/>
                    <a:pt x="3608662" y="1639543"/>
                  </a:cubicBezTo>
                  <a:cubicBezTo>
                    <a:pt x="3603376" y="1644829"/>
                    <a:pt x="3596206" y="1647798"/>
                    <a:pt x="3588731" y="1647798"/>
                  </a:cubicBezTo>
                  <a:lnTo>
                    <a:pt x="28187" y="1647798"/>
                  </a:lnTo>
                  <a:cubicBezTo>
                    <a:pt x="20712" y="1647798"/>
                    <a:pt x="13542" y="1644829"/>
                    <a:pt x="8256" y="1639543"/>
                  </a:cubicBezTo>
                  <a:cubicBezTo>
                    <a:pt x="2970" y="1634256"/>
                    <a:pt x="0" y="1627087"/>
                    <a:pt x="0" y="1619611"/>
                  </a:cubicBezTo>
                  <a:lnTo>
                    <a:pt x="0" y="28187"/>
                  </a:lnTo>
                  <a:cubicBezTo>
                    <a:pt x="0" y="20712"/>
                    <a:pt x="2970" y="13542"/>
                    <a:pt x="8256" y="8256"/>
                  </a:cubicBezTo>
                  <a:cubicBezTo>
                    <a:pt x="13542" y="2970"/>
                    <a:pt x="20712" y="0"/>
                    <a:pt x="28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6918" cy="1685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957234" y="4660978"/>
            <a:ext cx="11252045" cy="11252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70132" y="3312484"/>
            <a:ext cx="7227933" cy="5945816"/>
          </a:xfrm>
          <a:custGeom>
            <a:avLst/>
            <a:gdLst/>
            <a:ahLst/>
            <a:cxnLst/>
            <a:rect r="r" b="b" t="t" l="l"/>
            <a:pathLst>
              <a:path h="5945816" w="7227933">
                <a:moveTo>
                  <a:pt x="0" y="0"/>
                </a:moveTo>
                <a:lnTo>
                  <a:pt x="7227933" y="0"/>
                </a:lnTo>
                <a:lnTo>
                  <a:pt x="7227933" y="5945816"/>
                </a:lnTo>
                <a:lnTo>
                  <a:pt x="0" y="5945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0" y="-4195992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7211783" y="0"/>
                </a:moveTo>
                <a:lnTo>
                  <a:pt x="0" y="0"/>
                </a:lnTo>
                <a:lnTo>
                  <a:pt x="0" y="6643855"/>
                </a:lnTo>
                <a:lnTo>
                  <a:pt x="7211783" y="6643855"/>
                </a:lnTo>
                <a:lnTo>
                  <a:pt x="72117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84099" y="1078501"/>
            <a:ext cx="12875201" cy="11614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r">
              <a:lnSpc>
                <a:spcPts val="8959"/>
              </a:lnSpc>
            </a:pPr>
            <a:r>
              <a:rPr sz="4400" b="1">
                <a:solidFill>
                  <a:srgbClr val="FFFFFF"/>
                </a:solidFill>
                <a:latin typeface="Brick Sans"/>
              </a:rPr>
              <a:t>ALUR TRANSAKSI &amp; SIKLUS HIDUP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22837" y="3339799"/>
            <a:ext cx="8216267" cy="52514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499"/>
              </a:lnSpc>
            </a:pPr>
            <a:r>
              <a:rPr sz="1600">
                <a:solidFill>
                  <a:srgbClr val="000000"/>
                </a:solidFill>
                <a:latin typeface="Tomorrow"/>
              </a:rPr>
              <a:t>1. Pendaftaran Issuer Resmi: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   Admin Rektorat mendaftarkan wallet dekanat/fakultas via registerIssuer() [onlyAdmin].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2. Penerbitan Kredensial (Issue):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   Fakultas menambang hash ijazah di blockchain via issueCredential() -&gt; Status disetel ACTIVE.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3. Verifikasi Publik Instan: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   Verifikator mengunggah PDF asli -&gt; Cocok dengan hash on-chain -&gt; Status VALID (0 Gas, &lt;50ms).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4. Deteksi Pemalsuan (Avalanche Effect):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   Perubahan 1 bit teks/nilai pada PDF menghasilkan hash berbeda -&gt; Status HASH_MISMATCH.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5. Pencabutan Ijazah (Revoke):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   Fakultas asal mencabut ijazah karena sanksi plagiarisme skripsi -&gt; Status REVOKED permanen.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6. Ralat Silsilah Dokumen (Supersede):</a:t>
            </a:r>
          </a:p>
          <a:p>
            <a:r>
              <a:rPr sz="1600">
                <a:solidFill>
                  <a:srgbClr val="000000"/>
                </a:solidFill>
                <a:latin typeface="Tomorrow"/>
              </a:rPr>
              <a:t>   Dokumen revisi ditautkan berantai: Ijazah lama menjadi SUPERSEDED &amp; Ijazah baru menjadi ACTIVE.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0132" y="3026253"/>
            <a:ext cx="741392" cy="74139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11391899" cy="34283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sz="4000" b="1">
                <a:solidFill>
                  <a:srgbClr val="FFFFFF"/>
                </a:solidFill>
                <a:latin typeface="Brick Sans"/>
              </a:rPr>
              <a:t>SMART CONTRACT &amp; INFRASTRUKTUR NODE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40219" y="-6985480"/>
            <a:ext cx="11252045" cy="112520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22012" y="2501151"/>
            <a:ext cx="1765414" cy="17654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4630063" y="61722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354344" y="8458924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7211783" y="0"/>
                </a:moveTo>
                <a:lnTo>
                  <a:pt x="0" y="0"/>
                </a:lnTo>
                <a:lnTo>
                  <a:pt x="0" y="6643855"/>
                </a:lnTo>
                <a:lnTo>
                  <a:pt x="7211783" y="6643855"/>
                </a:lnTo>
                <a:lnTo>
                  <a:pt x="72117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4951583"/>
            <a:ext cx="16230600" cy="4306717"/>
            <a:chOff x="0" y="0"/>
            <a:chExt cx="4274726" cy="1134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1134279"/>
            </a:xfrm>
            <a:custGeom>
              <a:avLst/>
              <a:gdLst/>
              <a:ahLst/>
              <a:cxnLst/>
              <a:rect r="r" b="b" t="t" l="l"/>
              <a:pathLst>
                <a:path h="1134279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1110430"/>
                  </a:lnTo>
                  <a:cubicBezTo>
                    <a:pt x="4274726" y="1116755"/>
                    <a:pt x="4272213" y="1122821"/>
                    <a:pt x="4267741" y="1127294"/>
                  </a:cubicBezTo>
                  <a:cubicBezTo>
                    <a:pt x="4263268" y="1131767"/>
                    <a:pt x="4257201" y="1134279"/>
                    <a:pt x="4250876" y="1134279"/>
                  </a:cubicBezTo>
                  <a:lnTo>
                    <a:pt x="23850" y="1134279"/>
                  </a:lnTo>
                  <a:cubicBezTo>
                    <a:pt x="17524" y="1134279"/>
                    <a:pt x="11458" y="1131767"/>
                    <a:pt x="6985" y="1127294"/>
                  </a:cubicBezTo>
                  <a:cubicBezTo>
                    <a:pt x="2513" y="1122821"/>
                    <a:pt x="0" y="1116755"/>
                    <a:pt x="0" y="1110430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74726" cy="1172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29612" y="5337890"/>
            <a:ext cx="8216267" cy="34988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499"/>
              </a:lnSpc>
            </a:pPr>
            <a:r>
              <a:rPr sz="1700">
                <a:solidFill>
                  <a:srgbClr val="000000"/>
                </a:solidFill>
                <a:latin typeface="Tomorrow"/>
              </a:rPr>
              <a:t>Implementasi Smart Contract CredentialVerificationV2.sol (Solidity ^0.8.24) beroperasi pada private local blockchain Hardhat (Chain ID: 31337) di server VPS 1 (151.243.222.93).</a:t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700">
                <a:solidFill>
                  <a:srgbClr val="000000"/>
                </a:solidFill>
                <a:latin typeface="Tomorrow"/>
              </a:rPr>
              <a:t>Jaringan diekspos secara aman melalui Cloudflare Tunnel HTTPS dengan proteksi Anti-DDoS dan header CORS publik, melayani kueri Web3 DApp secara real-time 24/7.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97280" y="5425358"/>
            <a:ext cx="6296935" cy="1033307"/>
            <a:chOff x="0" y="0"/>
            <a:chExt cx="1658452" cy="2721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8452" cy="272147"/>
            </a:xfrm>
            <a:custGeom>
              <a:avLst/>
              <a:gdLst/>
              <a:ahLst/>
              <a:cxnLst/>
              <a:rect r="r" b="b" t="t" l="l"/>
              <a:pathLst>
                <a:path h="272147" w="1658452">
                  <a:moveTo>
                    <a:pt x="61474" y="0"/>
                  </a:moveTo>
                  <a:lnTo>
                    <a:pt x="1596978" y="0"/>
                  </a:lnTo>
                  <a:cubicBezTo>
                    <a:pt x="1630929" y="0"/>
                    <a:pt x="1658452" y="27523"/>
                    <a:pt x="1658452" y="61474"/>
                  </a:cubicBezTo>
                  <a:lnTo>
                    <a:pt x="1658452" y="210673"/>
                  </a:lnTo>
                  <a:cubicBezTo>
                    <a:pt x="1658452" y="226977"/>
                    <a:pt x="1651975" y="242613"/>
                    <a:pt x="1640447" y="254142"/>
                  </a:cubicBezTo>
                  <a:cubicBezTo>
                    <a:pt x="1628918" y="265670"/>
                    <a:pt x="1613282" y="272147"/>
                    <a:pt x="1596978" y="272147"/>
                  </a:cubicBezTo>
                  <a:lnTo>
                    <a:pt x="61474" y="272147"/>
                  </a:lnTo>
                  <a:cubicBezTo>
                    <a:pt x="45170" y="272147"/>
                    <a:pt x="29534" y="265670"/>
                    <a:pt x="18005" y="254142"/>
                  </a:cubicBezTo>
                  <a:cubicBezTo>
                    <a:pt x="6477" y="242613"/>
                    <a:pt x="0" y="226977"/>
                    <a:pt x="0" y="210673"/>
                  </a:cubicBezTo>
                  <a:lnTo>
                    <a:pt x="0" y="61474"/>
                  </a:lnTo>
                  <a:cubicBezTo>
                    <a:pt x="0" y="45170"/>
                    <a:pt x="6477" y="29534"/>
                    <a:pt x="18005" y="18005"/>
                  </a:cubicBezTo>
                  <a:cubicBezTo>
                    <a:pt x="29534" y="6477"/>
                    <a:pt x="45170" y="0"/>
                    <a:pt x="61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58452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397280" y="6588288"/>
            <a:ext cx="6296935" cy="1033307"/>
            <a:chOff x="0" y="0"/>
            <a:chExt cx="1658452" cy="2721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8452" cy="272147"/>
            </a:xfrm>
            <a:custGeom>
              <a:avLst/>
              <a:gdLst/>
              <a:ahLst/>
              <a:cxnLst/>
              <a:rect r="r" b="b" t="t" l="l"/>
              <a:pathLst>
                <a:path h="272147" w="1658452">
                  <a:moveTo>
                    <a:pt x="61474" y="0"/>
                  </a:moveTo>
                  <a:lnTo>
                    <a:pt x="1596978" y="0"/>
                  </a:lnTo>
                  <a:cubicBezTo>
                    <a:pt x="1630929" y="0"/>
                    <a:pt x="1658452" y="27523"/>
                    <a:pt x="1658452" y="61474"/>
                  </a:cubicBezTo>
                  <a:lnTo>
                    <a:pt x="1658452" y="210673"/>
                  </a:lnTo>
                  <a:cubicBezTo>
                    <a:pt x="1658452" y="226977"/>
                    <a:pt x="1651975" y="242613"/>
                    <a:pt x="1640447" y="254142"/>
                  </a:cubicBezTo>
                  <a:cubicBezTo>
                    <a:pt x="1628918" y="265670"/>
                    <a:pt x="1613282" y="272147"/>
                    <a:pt x="1596978" y="272147"/>
                  </a:cubicBezTo>
                  <a:lnTo>
                    <a:pt x="61474" y="272147"/>
                  </a:lnTo>
                  <a:cubicBezTo>
                    <a:pt x="45170" y="272147"/>
                    <a:pt x="29534" y="265670"/>
                    <a:pt x="18005" y="254142"/>
                  </a:cubicBezTo>
                  <a:cubicBezTo>
                    <a:pt x="6477" y="242613"/>
                    <a:pt x="0" y="226977"/>
                    <a:pt x="0" y="210673"/>
                  </a:cubicBezTo>
                  <a:lnTo>
                    <a:pt x="0" y="61474"/>
                  </a:lnTo>
                  <a:cubicBezTo>
                    <a:pt x="0" y="45170"/>
                    <a:pt x="6477" y="29534"/>
                    <a:pt x="18005" y="18005"/>
                  </a:cubicBezTo>
                  <a:cubicBezTo>
                    <a:pt x="29534" y="6477"/>
                    <a:pt x="45170" y="0"/>
                    <a:pt x="61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58452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97280" y="7754945"/>
            <a:ext cx="6296935" cy="1033307"/>
            <a:chOff x="0" y="0"/>
            <a:chExt cx="1658452" cy="2721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58452" cy="272147"/>
            </a:xfrm>
            <a:custGeom>
              <a:avLst/>
              <a:gdLst/>
              <a:ahLst/>
              <a:cxnLst/>
              <a:rect r="r" b="b" t="t" l="l"/>
              <a:pathLst>
                <a:path h="272147" w="1658452">
                  <a:moveTo>
                    <a:pt x="61474" y="0"/>
                  </a:moveTo>
                  <a:lnTo>
                    <a:pt x="1596978" y="0"/>
                  </a:lnTo>
                  <a:cubicBezTo>
                    <a:pt x="1630929" y="0"/>
                    <a:pt x="1658452" y="27523"/>
                    <a:pt x="1658452" y="61474"/>
                  </a:cubicBezTo>
                  <a:lnTo>
                    <a:pt x="1658452" y="210673"/>
                  </a:lnTo>
                  <a:cubicBezTo>
                    <a:pt x="1658452" y="226977"/>
                    <a:pt x="1651975" y="242613"/>
                    <a:pt x="1640447" y="254142"/>
                  </a:cubicBezTo>
                  <a:cubicBezTo>
                    <a:pt x="1628918" y="265670"/>
                    <a:pt x="1613282" y="272147"/>
                    <a:pt x="1596978" y="272147"/>
                  </a:cubicBezTo>
                  <a:lnTo>
                    <a:pt x="61474" y="272147"/>
                  </a:lnTo>
                  <a:cubicBezTo>
                    <a:pt x="45170" y="272147"/>
                    <a:pt x="29534" y="265670"/>
                    <a:pt x="18005" y="254142"/>
                  </a:cubicBezTo>
                  <a:cubicBezTo>
                    <a:pt x="6477" y="242613"/>
                    <a:pt x="0" y="226977"/>
                    <a:pt x="0" y="210673"/>
                  </a:cubicBezTo>
                  <a:lnTo>
                    <a:pt x="0" y="61474"/>
                  </a:lnTo>
                  <a:cubicBezTo>
                    <a:pt x="0" y="45170"/>
                    <a:pt x="6477" y="29534"/>
                    <a:pt x="18005" y="18005"/>
                  </a:cubicBezTo>
                  <a:cubicBezTo>
                    <a:pt x="29534" y="6477"/>
                    <a:pt x="45170" y="0"/>
                    <a:pt x="614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58452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374577" y="5697537"/>
            <a:ext cx="4342340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HARDHAT NODE (VPS 1)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74577" y="6862330"/>
            <a:ext cx="4342340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CLOUDFLARE RPC TUNNEL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74577" y="8027124"/>
            <a:ext cx="4342340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10 CUSTOM ERRORS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-1100036" y="6919480"/>
            <a:ext cx="1765414" cy="176541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2594428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6837713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1080999" y="72009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7385380" y="1028700"/>
            <a:ext cx="11252045" cy="11252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21335" y="1028700"/>
            <a:ext cx="11252045" cy="11252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752729"/>
            <a:ext cx="16230600" cy="5505571"/>
            <a:chOff x="0" y="0"/>
            <a:chExt cx="4274726" cy="14500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1450027"/>
            </a:xfrm>
            <a:custGeom>
              <a:avLst/>
              <a:gdLst/>
              <a:ahLst/>
              <a:cxnLst/>
              <a:rect r="r" b="b" t="t" l="l"/>
              <a:pathLst>
                <a:path h="1450027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1426177"/>
                  </a:lnTo>
                  <a:cubicBezTo>
                    <a:pt x="4274726" y="1432503"/>
                    <a:pt x="4272213" y="1438569"/>
                    <a:pt x="4267741" y="1443042"/>
                  </a:cubicBezTo>
                  <a:cubicBezTo>
                    <a:pt x="4263268" y="1447514"/>
                    <a:pt x="4257201" y="1450027"/>
                    <a:pt x="4250876" y="1450027"/>
                  </a:cubicBezTo>
                  <a:lnTo>
                    <a:pt x="23850" y="1450027"/>
                  </a:lnTo>
                  <a:cubicBezTo>
                    <a:pt x="17524" y="1450027"/>
                    <a:pt x="11458" y="1447514"/>
                    <a:pt x="6985" y="1443042"/>
                  </a:cubicBezTo>
                  <a:cubicBezTo>
                    <a:pt x="2513" y="1438569"/>
                    <a:pt x="0" y="1432503"/>
                    <a:pt x="0" y="1426177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74726" cy="1488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9014" y="1552058"/>
            <a:ext cx="1303355" cy="13033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91694" y="777540"/>
            <a:ext cx="1303355" cy="130335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52247" y="4511503"/>
            <a:ext cx="4789992" cy="1732778"/>
            <a:chOff x="0" y="0"/>
            <a:chExt cx="752307" cy="2721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2307" cy="272147"/>
            </a:xfrm>
            <a:custGeom>
              <a:avLst/>
              <a:gdLst/>
              <a:ahLst/>
              <a:cxnLst/>
              <a:rect r="r" b="b" t="t" l="l"/>
              <a:pathLst>
                <a:path h="272147" w="752307">
                  <a:moveTo>
                    <a:pt x="80813" y="0"/>
                  </a:moveTo>
                  <a:lnTo>
                    <a:pt x="671493" y="0"/>
                  </a:lnTo>
                  <a:cubicBezTo>
                    <a:pt x="692927" y="0"/>
                    <a:pt x="713482" y="8514"/>
                    <a:pt x="728637" y="23670"/>
                  </a:cubicBezTo>
                  <a:cubicBezTo>
                    <a:pt x="743793" y="38825"/>
                    <a:pt x="752307" y="59380"/>
                    <a:pt x="752307" y="80813"/>
                  </a:cubicBezTo>
                  <a:lnTo>
                    <a:pt x="752307" y="191333"/>
                  </a:lnTo>
                  <a:cubicBezTo>
                    <a:pt x="752307" y="212766"/>
                    <a:pt x="743793" y="233322"/>
                    <a:pt x="728637" y="248477"/>
                  </a:cubicBezTo>
                  <a:cubicBezTo>
                    <a:pt x="713482" y="263633"/>
                    <a:pt x="692927" y="272147"/>
                    <a:pt x="671493" y="272147"/>
                  </a:cubicBezTo>
                  <a:lnTo>
                    <a:pt x="80813" y="272147"/>
                  </a:lnTo>
                  <a:cubicBezTo>
                    <a:pt x="59380" y="272147"/>
                    <a:pt x="38825" y="263633"/>
                    <a:pt x="23670" y="248477"/>
                  </a:cubicBezTo>
                  <a:cubicBezTo>
                    <a:pt x="8514" y="233322"/>
                    <a:pt x="0" y="212766"/>
                    <a:pt x="0" y="191333"/>
                  </a:cubicBezTo>
                  <a:lnTo>
                    <a:pt x="0" y="80813"/>
                  </a:lnTo>
                  <a:cubicBezTo>
                    <a:pt x="0" y="59380"/>
                    <a:pt x="8514" y="38825"/>
                    <a:pt x="23670" y="23670"/>
                  </a:cubicBezTo>
                  <a:cubicBezTo>
                    <a:pt x="38825" y="8514"/>
                    <a:pt x="59380" y="0"/>
                    <a:pt x="808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52307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858299" y="4124576"/>
            <a:ext cx="4571401" cy="4761876"/>
          </a:xfrm>
          <a:custGeom>
            <a:avLst/>
            <a:gdLst/>
            <a:ahLst/>
            <a:cxnLst/>
            <a:rect r="r" b="b" t="t" l="l"/>
            <a:pathLst>
              <a:path h="4761876" w="4571401">
                <a:moveTo>
                  <a:pt x="0" y="0"/>
                </a:moveTo>
                <a:lnTo>
                  <a:pt x="4571402" y="0"/>
                </a:lnTo>
                <a:lnTo>
                  <a:pt x="4571402" y="4761876"/>
                </a:lnTo>
                <a:lnTo>
                  <a:pt x="0" y="476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711254" y="838200"/>
            <a:ext cx="12865492" cy="22948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8959"/>
              </a:lnSpc>
            </a:pPr>
            <a:r>
              <a:rPr sz="3800" b="1">
                <a:solidFill>
                  <a:srgbClr val="FFFFFF"/>
                </a:solidFill>
                <a:latin typeface="Brick Sans"/>
              </a:rPr>
              <a:t>SECURITY AUDIT: 7 GERBANG KEAMANAN (PROJECT 3)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87989" y="4914485"/>
            <a:ext cx="3118509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600" b="1">
                <a:solidFill>
                  <a:srgbClr val="FFFFFF"/>
                </a:solidFill>
                <a:latin typeface="Tomorrow Bold"/>
              </a:rPr>
              <a:t>1. REENTRANCY GUARD</a:t>
            </a:r>
          </a:p>
          <a:p>
            <a:r>
              <a:rPr sz="1600" b="1">
                <a:solidFill>
                  <a:srgbClr val="FFFFFF"/>
                </a:solidFill>
                <a:latin typeface="Tomorrow Bold"/>
              </a:rPr>
              <a:t>Modifier nonReentrant mutex lock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752247" y="6766461"/>
            <a:ext cx="4789992" cy="1732778"/>
            <a:chOff x="0" y="0"/>
            <a:chExt cx="752307" cy="2721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2307" cy="272147"/>
            </a:xfrm>
            <a:custGeom>
              <a:avLst/>
              <a:gdLst/>
              <a:ahLst/>
              <a:cxnLst/>
              <a:rect r="r" b="b" t="t" l="l"/>
              <a:pathLst>
                <a:path h="272147" w="752307">
                  <a:moveTo>
                    <a:pt x="80813" y="0"/>
                  </a:moveTo>
                  <a:lnTo>
                    <a:pt x="671493" y="0"/>
                  </a:lnTo>
                  <a:cubicBezTo>
                    <a:pt x="692927" y="0"/>
                    <a:pt x="713482" y="8514"/>
                    <a:pt x="728637" y="23670"/>
                  </a:cubicBezTo>
                  <a:cubicBezTo>
                    <a:pt x="743793" y="38825"/>
                    <a:pt x="752307" y="59380"/>
                    <a:pt x="752307" y="80813"/>
                  </a:cubicBezTo>
                  <a:lnTo>
                    <a:pt x="752307" y="191333"/>
                  </a:lnTo>
                  <a:cubicBezTo>
                    <a:pt x="752307" y="212766"/>
                    <a:pt x="743793" y="233322"/>
                    <a:pt x="728637" y="248477"/>
                  </a:cubicBezTo>
                  <a:cubicBezTo>
                    <a:pt x="713482" y="263633"/>
                    <a:pt x="692927" y="272147"/>
                    <a:pt x="671493" y="272147"/>
                  </a:cubicBezTo>
                  <a:lnTo>
                    <a:pt x="80813" y="272147"/>
                  </a:lnTo>
                  <a:cubicBezTo>
                    <a:pt x="59380" y="272147"/>
                    <a:pt x="38825" y="263633"/>
                    <a:pt x="23670" y="248477"/>
                  </a:cubicBezTo>
                  <a:cubicBezTo>
                    <a:pt x="8514" y="233322"/>
                    <a:pt x="0" y="212766"/>
                    <a:pt x="0" y="191333"/>
                  </a:cubicBezTo>
                  <a:lnTo>
                    <a:pt x="0" y="80813"/>
                  </a:lnTo>
                  <a:cubicBezTo>
                    <a:pt x="0" y="59380"/>
                    <a:pt x="8514" y="38825"/>
                    <a:pt x="23670" y="23670"/>
                  </a:cubicBezTo>
                  <a:cubicBezTo>
                    <a:pt x="38825" y="8514"/>
                    <a:pt x="59380" y="0"/>
                    <a:pt x="808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52307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38561" y="4511646"/>
            <a:ext cx="4789992" cy="1732778"/>
            <a:chOff x="0" y="0"/>
            <a:chExt cx="752307" cy="2721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2307" cy="272147"/>
            </a:xfrm>
            <a:custGeom>
              <a:avLst/>
              <a:gdLst/>
              <a:ahLst/>
              <a:cxnLst/>
              <a:rect r="r" b="b" t="t" l="l"/>
              <a:pathLst>
                <a:path h="272147" w="752307">
                  <a:moveTo>
                    <a:pt x="80813" y="0"/>
                  </a:moveTo>
                  <a:lnTo>
                    <a:pt x="671493" y="0"/>
                  </a:lnTo>
                  <a:cubicBezTo>
                    <a:pt x="692927" y="0"/>
                    <a:pt x="713482" y="8514"/>
                    <a:pt x="728637" y="23670"/>
                  </a:cubicBezTo>
                  <a:cubicBezTo>
                    <a:pt x="743793" y="38825"/>
                    <a:pt x="752307" y="59380"/>
                    <a:pt x="752307" y="80813"/>
                  </a:cubicBezTo>
                  <a:lnTo>
                    <a:pt x="752307" y="191333"/>
                  </a:lnTo>
                  <a:cubicBezTo>
                    <a:pt x="752307" y="212766"/>
                    <a:pt x="743793" y="233322"/>
                    <a:pt x="728637" y="248477"/>
                  </a:cubicBezTo>
                  <a:cubicBezTo>
                    <a:pt x="713482" y="263633"/>
                    <a:pt x="692927" y="272147"/>
                    <a:pt x="671493" y="272147"/>
                  </a:cubicBezTo>
                  <a:lnTo>
                    <a:pt x="80813" y="272147"/>
                  </a:lnTo>
                  <a:cubicBezTo>
                    <a:pt x="59380" y="272147"/>
                    <a:pt x="38825" y="263633"/>
                    <a:pt x="23670" y="248477"/>
                  </a:cubicBezTo>
                  <a:cubicBezTo>
                    <a:pt x="8514" y="233322"/>
                    <a:pt x="0" y="212766"/>
                    <a:pt x="0" y="191333"/>
                  </a:cubicBezTo>
                  <a:lnTo>
                    <a:pt x="0" y="80813"/>
                  </a:lnTo>
                  <a:cubicBezTo>
                    <a:pt x="0" y="59380"/>
                    <a:pt x="8514" y="38825"/>
                    <a:pt x="23670" y="23670"/>
                  </a:cubicBezTo>
                  <a:cubicBezTo>
                    <a:pt x="38825" y="8514"/>
                    <a:pt x="59380" y="0"/>
                    <a:pt x="808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52307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38561" y="6766604"/>
            <a:ext cx="4789992" cy="1732778"/>
            <a:chOff x="0" y="0"/>
            <a:chExt cx="752307" cy="2721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2307" cy="272147"/>
            </a:xfrm>
            <a:custGeom>
              <a:avLst/>
              <a:gdLst/>
              <a:ahLst/>
              <a:cxnLst/>
              <a:rect r="r" b="b" t="t" l="l"/>
              <a:pathLst>
                <a:path h="272147" w="752307">
                  <a:moveTo>
                    <a:pt x="80813" y="0"/>
                  </a:moveTo>
                  <a:lnTo>
                    <a:pt x="671493" y="0"/>
                  </a:lnTo>
                  <a:cubicBezTo>
                    <a:pt x="692927" y="0"/>
                    <a:pt x="713482" y="8514"/>
                    <a:pt x="728637" y="23670"/>
                  </a:cubicBezTo>
                  <a:cubicBezTo>
                    <a:pt x="743793" y="38825"/>
                    <a:pt x="752307" y="59380"/>
                    <a:pt x="752307" y="80813"/>
                  </a:cubicBezTo>
                  <a:lnTo>
                    <a:pt x="752307" y="191333"/>
                  </a:lnTo>
                  <a:cubicBezTo>
                    <a:pt x="752307" y="212766"/>
                    <a:pt x="743793" y="233322"/>
                    <a:pt x="728637" y="248477"/>
                  </a:cubicBezTo>
                  <a:cubicBezTo>
                    <a:pt x="713482" y="263633"/>
                    <a:pt x="692927" y="272147"/>
                    <a:pt x="671493" y="272147"/>
                  </a:cubicBezTo>
                  <a:lnTo>
                    <a:pt x="80813" y="272147"/>
                  </a:lnTo>
                  <a:cubicBezTo>
                    <a:pt x="59380" y="272147"/>
                    <a:pt x="38825" y="263633"/>
                    <a:pt x="23670" y="248477"/>
                  </a:cubicBezTo>
                  <a:cubicBezTo>
                    <a:pt x="8514" y="233322"/>
                    <a:pt x="0" y="212766"/>
                    <a:pt x="0" y="191333"/>
                  </a:cubicBezTo>
                  <a:lnTo>
                    <a:pt x="0" y="80813"/>
                  </a:lnTo>
                  <a:cubicBezTo>
                    <a:pt x="0" y="59380"/>
                    <a:pt x="8514" y="38825"/>
                    <a:pt x="23670" y="23670"/>
                  </a:cubicBezTo>
                  <a:cubicBezTo>
                    <a:pt x="38825" y="8514"/>
                    <a:pt x="59380" y="0"/>
                    <a:pt x="808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52307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338227" y="7375672"/>
            <a:ext cx="3618032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600" b="1">
                <a:solidFill>
                  <a:srgbClr val="FFFFFF"/>
                </a:solidFill>
                <a:latin typeface="Tomorrow Bold"/>
              </a:rPr>
              <a:t>2. STRICT OWNERSHIP</a:t>
            </a:r>
          </a:p>
          <a:p>
            <a:r>
              <a:rPr sz="1600" b="1">
                <a:solidFill>
                  <a:srgbClr val="FFFFFF"/>
                </a:solidFill>
                <a:latin typeface="Tomorrow Bold"/>
              </a:rPr>
              <a:t>Fakultas lain ditolak cabut ijazah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56431" y="4914485"/>
            <a:ext cx="3954251" cy="869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600" b="1">
                <a:solidFill>
                  <a:srgbClr val="FFFFFF"/>
                </a:solidFill>
                <a:latin typeface="Tomorrow Bold"/>
              </a:rPr>
              <a:t>3. O(1) DIRECT MAPPING</a:t>
            </a:r>
          </a:p>
          <a:p>
            <a:r>
              <a:rPr sz="1600" b="1">
                <a:solidFill>
                  <a:srgbClr val="FFFFFF"/>
                </a:solidFill>
                <a:latin typeface="Tomorrow Bold"/>
              </a:rPr>
              <a:t>Kebal DoS &amp; Block Gas Limit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74302" y="7375672"/>
            <a:ext cx="3118509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600" b="1">
                <a:solidFill>
                  <a:srgbClr val="FFFFFF"/>
                </a:solidFill>
                <a:latin typeface="Tomorrow Bold"/>
              </a:rPr>
              <a:t>4. ZERO PII ON-CHAIN</a:t>
            </a:r>
          </a:p>
          <a:p>
            <a:r>
              <a:rPr sz="1600" b="1">
                <a:solidFill>
                  <a:srgbClr val="FFFFFF"/>
                </a:solidFill>
                <a:latin typeface="Tomorrow Bold"/>
              </a:rPr>
              <a:t>Kepatuhan mutlak UU PDP 27/2022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7523296" cy="34283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sz="3800" b="1">
                <a:solidFill>
                  <a:srgbClr val="FFFFFF"/>
                </a:solidFill>
                <a:latin typeface="Brick Sans"/>
              </a:rPr>
              <a:t>TESTING OTOMATIS &amp; 4-FASE DEBUGGING (PROJECT 2)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581283" y="-2872256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0" y="0"/>
                </a:moveTo>
                <a:lnTo>
                  <a:pt x="7211783" y="0"/>
                </a:lnTo>
                <a:lnTo>
                  <a:pt x="7211783" y="6643855"/>
                </a:lnTo>
                <a:lnTo>
                  <a:pt x="0" y="6643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472785" y="767949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4716070" y="767949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true" rot="0">
            <a:off x="8959356" y="767949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true" rot="0">
            <a:off x="13202642" y="767949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3" y="0"/>
                </a:lnTo>
                <a:lnTo>
                  <a:pt x="4612573" y="411480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8551996" y="1028700"/>
            <a:ext cx="8707304" cy="8229600"/>
            <a:chOff x="0" y="0"/>
            <a:chExt cx="2293282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328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293282">
                  <a:moveTo>
                    <a:pt x="44456" y="0"/>
                  </a:moveTo>
                  <a:lnTo>
                    <a:pt x="2248825" y="0"/>
                  </a:lnTo>
                  <a:cubicBezTo>
                    <a:pt x="2260616" y="0"/>
                    <a:pt x="2271924" y="4684"/>
                    <a:pt x="2280261" y="13021"/>
                  </a:cubicBezTo>
                  <a:cubicBezTo>
                    <a:pt x="2288598" y="21358"/>
                    <a:pt x="2293282" y="32666"/>
                    <a:pt x="2293282" y="44456"/>
                  </a:cubicBezTo>
                  <a:lnTo>
                    <a:pt x="2293282" y="2123010"/>
                  </a:lnTo>
                  <a:cubicBezTo>
                    <a:pt x="2293282" y="2147563"/>
                    <a:pt x="2273378" y="2167467"/>
                    <a:pt x="2248825" y="2167467"/>
                  </a:cubicBezTo>
                  <a:lnTo>
                    <a:pt x="44456" y="2167467"/>
                  </a:lnTo>
                  <a:cubicBezTo>
                    <a:pt x="32666" y="2167467"/>
                    <a:pt x="21358" y="2162783"/>
                    <a:pt x="13021" y="2154446"/>
                  </a:cubicBezTo>
                  <a:cubicBezTo>
                    <a:pt x="4684" y="2146109"/>
                    <a:pt x="0" y="2134801"/>
                    <a:pt x="0" y="2123010"/>
                  </a:cubicBezTo>
                  <a:lnTo>
                    <a:pt x="0" y="44456"/>
                  </a:lnTo>
                  <a:cubicBezTo>
                    <a:pt x="0" y="32666"/>
                    <a:pt x="4684" y="21358"/>
                    <a:pt x="13021" y="13021"/>
                  </a:cubicBezTo>
                  <a:cubicBezTo>
                    <a:pt x="21358" y="4684"/>
                    <a:pt x="32666" y="0"/>
                    <a:pt x="44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9328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143500"/>
            <a:ext cx="6974938" cy="1033307"/>
            <a:chOff x="0" y="0"/>
            <a:chExt cx="1837021" cy="2721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7021" cy="272147"/>
            </a:xfrm>
            <a:custGeom>
              <a:avLst/>
              <a:gdLst/>
              <a:ahLst/>
              <a:cxnLst/>
              <a:rect r="r" b="b" t="t" l="l"/>
              <a:pathLst>
                <a:path h="272147" w="1837021">
                  <a:moveTo>
                    <a:pt x="55498" y="0"/>
                  </a:moveTo>
                  <a:lnTo>
                    <a:pt x="1781522" y="0"/>
                  </a:lnTo>
                  <a:cubicBezTo>
                    <a:pt x="1796242" y="0"/>
                    <a:pt x="1810358" y="5847"/>
                    <a:pt x="1820766" y="16255"/>
                  </a:cubicBezTo>
                  <a:cubicBezTo>
                    <a:pt x="1831173" y="26663"/>
                    <a:pt x="1837021" y="40779"/>
                    <a:pt x="1837021" y="55498"/>
                  </a:cubicBezTo>
                  <a:lnTo>
                    <a:pt x="1837021" y="216649"/>
                  </a:lnTo>
                  <a:cubicBezTo>
                    <a:pt x="1837021" y="231368"/>
                    <a:pt x="1831173" y="245484"/>
                    <a:pt x="1820766" y="255892"/>
                  </a:cubicBezTo>
                  <a:cubicBezTo>
                    <a:pt x="1810358" y="266300"/>
                    <a:pt x="1796242" y="272147"/>
                    <a:pt x="1781522" y="272147"/>
                  </a:cubicBezTo>
                  <a:lnTo>
                    <a:pt x="55498" y="272147"/>
                  </a:lnTo>
                  <a:cubicBezTo>
                    <a:pt x="40779" y="272147"/>
                    <a:pt x="26663" y="266300"/>
                    <a:pt x="16255" y="255892"/>
                  </a:cubicBezTo>
                  <a:cubicBezTo>
                    <a:pt x="5847" y="245484"/>
                    <a:pt x="0" y="231368"/>
                    <a:pt x="0" y="216649"/>
                  </a:cubicBezTo>
                  <a:lnTo>
                    <a:pt x="0" y="55498"/>
                  </a:lnTo>
                  <a:cubicBezTo>
                    <a:pt x="0" y="40779"/>
                    <a:pt x="5847" y="26663"/>
                    <a:pt x="16255" y="16255"/>
                  </a:cubicBezTo>
                  <a:cubicBezTo>
                    <a:pt x="26663" y="5847"/>
                    <a:pt x="40779" y="0"/>
                    <a:pt x="554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37021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306430"/>
            <a:ext cx="6974938" cy="1033307"/>
            <a:chOff x="0" y="0"/>
            <a:chExt cx="1837021" cy="2721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7021" cy="272147"/>
            </a:xfrm>
            <a:custGeom>
              <a:avLst/>
              <a:gdLst/>
              <a:ahLst/>
              <a:cxnLst/>
              <a:rect r="r" b="b" t="t" l="l"/>
              <a:pathLst>
                <a:path h="272147" w="1837021">
                  <a:moveTo>
                    <a:pt x="55498" y="0"/>
                  </a:moveTo>
                  <a:lnTo>
                    <a:pt x="1781522" y="0"/>
                  </a:lnTo>
                  <a:cubicBezTo>
                    <a:pt x="1796242" y="0"/>
                    <a:pt x="1810358" y="5847"/>
                    <a:pt x="1820766" y="16255"/>
                  </a:cubicBezTo>
                  <a:cubicBezTo>
                    <a:pt x="1831173" y="26663"/>
                    <a:pt x="1837021" y="40779"/>
                    <a:pt x="1837021" y="55498"/>
                  </a:cubicBezTo>
                  <a:lnTo>
                    <a:pt x="1837021" y="216649"/>
                  </a:lnTo>
                  <a:cubicBezTo>
                    <a:pt x="1837021" y="231368"/>
                    <a:pt x="1831173" y="245484"/>
                    <a:pt x="1820766" y="255892"/>
                  </a:cubicBezTo>
                  <a:cubicBezTo>
                    <a:pt x="1810358" y="266300"/>
                    <a:pt x="1796242" y="272147"/>
                    <a:pt x="1781522" y="272147"/>
                  </a:cubicBezTo>
                  <a:lnTo>
                    <a:pt x="55498" y="272147"/>
                  </a:lnTo>
                  <a:cubicBezTo>
                    <a:pt x="40779" y="272147"/>
                    <a:pt x="26663" y="266300"/>
                    <a:pt x="16255" y="255892"/>
                  </a:cubicBezTo>
                  <a:cubicBezTo>
                    <a:pt x="5847" y="245484"/>
                    <a:pt x="0" y="231368"/>
                    <a:pt x="0" y="216649"/>
                  </a:cubicBezTo>
                  <a:lnTo>
                    <a:pt x="0" y="55498"/>
                  </a:lnTo>
                  <a:cubicBezTo>
                    <a:pt x="0" y="40779"/>
                    <a:pt x="5847" y="26663"/>
                    <a:pt x="16255" y="16255"/>
                  </a:cubicBezTo>
                  <a:cubicBezTo>
                    <a:pt x="26663" y="5847"/>
                    <a:pt x="40779" y="0"/>
                    <a:pt x="554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37021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7473087"/>
            <a:ext cx="6974938" cy="1033307"/>
            <a:chOff x="0" y="0"/>
            <a:chExt cx="1837021" cy="2721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7021" cy="272147"/>
            </a:xfrm>
            <a:custGeom>
              <a:avLst/>
              <a:gdLst/>
              <a:ahLst/>
              <a:cxnLst/>
              <a:rect r="r" b="b" t="t" l="l"/>
              <a:pathLst>
                <a:path h="272147" w="1837021">
                  <a:moveTo>
                    <a:pt x="55498" y="0"/>
                  </a:moveTo>
                  <a:lnTo>
                    <a:pt x="1781522" y="0"/>
                  </a:lnTo>
                  <a:cubicBezTo>
                    <a:pt x="1796242" y="0"/>
                    <a:pt x="1810358" y="5847"/>
                    <a:pt x="1820766" y="16255"/>
                  </a:cubicBezTo>
                  <a:cubicBezTo>
                    <a:pt x="1831173" y="26663"/>
                    <a:pt x="1837021" y="40779"/>
                    <a:pt x="1837021" y="55498"/>
                  </a:cubicBezTo>
                  <a:lnTo>
                    <a:pt x="1837021" y="216649"/>
                  </a:lnTo>
                  <a:cubicBezTo>
                    <a:pt x="1837021" y="231368"/>
                    <a:pt x="1831173" y="245484"/>
                    <a:pt x="1820766" y="255892"/>
                  </a:cubicBezTo>
                  <a:cubicBezTo>
                    <a:pt x="1810358" y="266300"/>
                    <a:pt x="1796242" y="272147"/>
                    <a:pt x="1781522" y="272147"/>
                  </a:cubicBezTo>
                  <a:lnTo>
                    <a:pt x="55498" y="272147"/>
                  </a:lnTo>
                  <a:cubicBezTo>
                    <a:pt x="40779" y="272147"/>
                    <a:pt x="26663" y="266300"/>
                    <a:pt x="16255" y="255892"/>
                  </a:cubicBezTo>
                  <a:cubicBezTo>
                    <a:pt x="5847" y="245484"/>
                    <a:pt x="0" y="231368"/>
                    <a:pt x="0" y="216649"/>
                  </a:cubicBezTo>
                  <a:lnTo>
                    <a:pt x="0" y="55498"/>
                  </a:lnTo>
                  <a:cubicBezTo>
                    <a:pt x="0" y="40779"/>
                    <a:pt x="5847" y="26663"/>
                    <a:pt x="16255" y="16255"/>
                  </a:cubicBezTo>
                  <a:cubicBezTo>
                    <a:pt x="26663" y="5847"/>
                    <a:pt x="40779" y="0"/>
                    <a:pt x="554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37021" cy="31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11225" y="5415679"/>
            <a:ext cx="4809888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18/18 PASSING (100%)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3222" y="6580472"/>
            <a:ext cx="6165893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4-FASE DEBUGGING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7745266"/>
            <a:ext cx="6974938" cy="431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sz="1800" b="1">
                <a:solidFill>
                  <a:srgbClr val="FFFFFF"/>
                </a:solidFill>
                <a:latin typeface="Tomorrow Bold"/>
              </a:rPr>
              <a:t>100% REPRODUKSIBEL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43033" y="1349639"/>
            <a:ext cx="7657912" cy="7442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499"/>
              </a:lnSpc>
            </a:pPr>
            <a:r>
              <a:rPr sz="1500">
                <a:solidFill>
                  <a:srgbClr val="000000"/>
                </a:solidFill>
                <a:latin typeface="Tomorrow"/>
              </a:rPr>
              <a:t>• Automated Unit Testing (Hardhat EVM):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18 kasus uji (T-01 s.d. T-18) lulus 100% tanpa kegagalan di CLI terminal riil, mencakup hak akses, sanitasi nilai kosong, auto-expiration dinamis, dan penelusuran silsilah ralat.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• Demonstrasi 4-Fase Debugging Kasus Gagal (Bukti [B-02]):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1. Fase 1 (Simulasi Revert): Akun tidak sah mencoba issue -&gt; Revert NotAuthorizedIssuer().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2. Fase 2 (Akar Masalah): authorizedIssuers bernilai false (RBAC terbukti aktif).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3. Fase 3 (Remediasi): Admin mendaftarkan akun via registerIssuer() pada Blok #50.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4. Fase 4 (Retest Sukses): Penerbitan berhasil ditambang pada Blok #51 (Gas: 201.172, Status VALID).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11391899" cy="22948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sz="4000" b="1">
                <a:solidFill>
                  <a:srgbClr val="FFFFFF"/>
                </a:solidFill>
                <a:latin typeface="Brick Sans"/>
              </a:rPr>
              <a:t>EVALUASI ENTERPRISE &amp; ROADMAP SISTEM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633278" y="-6985480"/>
            <a:ext cx="11252045" cy="112520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64649" y="2250383"/>
            <a:ext cx="1765414" cy="17654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3675426" y="6172200"/>
            <a:ext cx="4612574" cy="4114800"/>
          </a:xfrm>
          <a:custGeom>
            <a:avLst/>
            <a:gdLst/>
            <a:ahLst/>
            <a:cxnLst/>
            <a:rect r="r" b="b" t="t" l="l"/>
            <a:pathLst>
              <a:path h="4114800" w="4612574">
                <a:moveTo>
                  <a:pt x="461257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12574" y="0"/>
                </a:lnTo>
                <a:lnTo>
                  <a:pt x="4612574" y="411480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354344" y="8458924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7211783" y="0"/>
                </a:moveTo>
                <a:lnTo>
                  <a:pt x="0" y="0"/>
                </a:lnTo>
                <a:lnTo>
                  <a:pt x="0" y="6643855"/>
                </a:lnTo>
                <a:lnTo>
                  <a:pt x="7211783" y="6643855"/>
                </a:lnTo>
                <a:lnTo>
                  <a:pt x="72117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4015797"/>
            <a:ext cx="10604578" cy="5242503"/>
            <a:chOff x="0" y="0"/>
            <a:chExt cx="2792975" cy="13807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2975" cy="1380742"/>
            </a:xfrm>
            <a:custGeom>
              <a:avLst/>
              <a:gdLst/>
              <a:ahLst/>
              <a:cxnLst/>
              <a:rect r="r" b="b" t="t" l="l"/>
              <a:pathLst>
                <a:path h="1380742" w="2792975">
                  <a:moveTo>
                    <a:pt x="36503" y="0"/>
                  </a:moveTo>
                  <a:lnTo>
                    <a:pt x="2756472" y="0"/>
                  </a:lnTo>
                  <a:cubicBezTo>
                    <a:pt x="2776632" y="0"/>
                    <a:pt x="2792975" y="16343"/>
                    <a:pt x="2792975" y="36503"/>
                  </a:cubicBezTo>
                  <a:lnTo>
                    <a:pt x="2792975" y="1344239"/>
                  </a:lnTo>
                  <a:cubicBezTo>
                    <a:pt x="2792975" y="1353920"/>
                    <a:pt x="2789129" y="1363205"/>
                    <a:pt x="2782284" y="1370050"/>
                  </a:cubicBezTo>
                  <a:cubicBezTo>
                    <a:pt x="2775438" y="1376896"/>
                    <a:pt x="2766154" y="1380742"/>
                    <a:pt x="2756472" y="1380742"/>
                  </a:cubicBezTo>
                  <a:lnTo>
                    <a:pt x="36503" y="1380742"/>
                  </a:lnTo>
                  <a:cubicBezTo>
                    <a:pt x="16343" y="1380742"/>
                    <a:pt x="0" y="1364399"/>
                    <a:pt x="0" y="1344239"/>
                  </a:cubicBezTo>
                  <a:lnTo>
                    <a:pt x="0" y="36503"/>
                  </a:lnTo>
                  <a:cubicBezTo>
                    <a:pt x="0" y="26822"/>
                    <a:pt x="3846" y="17537"/>
                    <a:pt x="10691" y="10691"/>
                  </a:cubicBezTo>
                  <a:cubicBezTo>
                    <a:pt x="17537" y="3846"/>
                    <a:pt x="26822" y="0"/>
                    <a:pt x="365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2975" cy="1418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00036" y="6919480"/>
            <a:ext cx="1765414" cy="176541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726024" y="4266565"/>
            <a:ext cx="10895358" cy="5243391"/>
          </a:xfrm>
          <a:custGeom>
            <a:avLst/>
            <a:gdLst/>
            <a:ahLst/>
            <a:cxnLst/>
            <a:rect r="r" b="b" t="t" l="l"/>
            <a:pathLst>
              <a:path h="5243391" w="10895358">
                <a:moveTo>
                  <a:pt x="0" y="0"/>
                </a:moveTo>
                <a:lnTo>
                  <a:pt x="10895358" y="0"/>
                </a:lnTo>
                <a:lnTo>
                  <a:pt x="10895358" y="5243391"/>
                </a:lnTo>
                <a:lnTo>
                  <a:pt x="0" y="5243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89730" y="4394200"/>
            <a:ext cx="10143548" cy="43751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499"/>
              </a:lnSpc>
            </a:pPr>
            <a:r>
              <a:rPr sz="1500">
                <a:solidFill>
                  <a:srgbClr val="000000"/>
                </a:solidFill>
                <a:latin typeface="Tomorrow"/>
              </a:rPr>
              <a:t>• Evaluasi Arsitektur Enterprise (Project 4):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- Public Ethereum: Transparan namun ada volatilitas gas fee dan privasi terbuka.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- Hyperledger Fabric: Privasi konsorsium tinggi, namun arsitektur node &amp; MSP sangat kompleks.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- Solusi Terpilih: Private EVM Consortium (Chain ID 31337) dengan Zero PII On-Chain (kombinasi optimal antara kepatuhan hukum privasi dan kemudahan adopsi ekosistem Web3).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• Roadmap Pengembangan Masa Depan: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1. Standarisasi W3C Verifiable Credentials &amp; Decentralized Identifiers (DID).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2. Implementasi Zero-Knowledge Proofs (ZKP) untuk pembuktian kelulusan tanpa membuka transkrip.</a:t>
            </a:r>
          </a:p>
          <a:p>
            <a:r>
              <a:rPr sz="1500">
                <a:solidFill>
                  <a:srgbClr val="000000"/>
                </a:solidFill>
                <a:latin typeface="Tomorrow"/>
              </a:rPr>
              <a:t>  3. Pembentukan Konsorsium Antar-Perguruan Tinggi se-LLDIKTI Wilayah IV.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73028" y="-2747477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0" y="0"/>
                </a:moveTo>
                <a:lnTo>
                  <a:pt x="7211783" y="0"/>
                </a:lnTo>
                <a:lnTo>
                  <a:pt x="7211783" y="6643856"/>
                </a:lnTo>
                <a:lnTo>
                  <a:pt x="0" y="6643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41858" y="-3321928"/>
            <a:ext cx="7211783" cy="6643855"/>
          </a:xfrm>
          <a:custGeom>
            <a:avLst/>
            <a:gdLst/>
            <a:ahLst/>
            <a:cxnLst/>
            <a:rect r="r" b="b" t="t" l="l"/>
            <a:pathLst>
              <a:path h="6643855" w="7211783">
                <a:moveTo>
                  <a:pt x="7211783" y="0"/>
                </a:moveTo>
                <a:lnTo>
                  <a:pt x="0" y="0"/>
                </a:lnTo>
                <a:lnTo>
                  <a:pt x="0" y="6643856"/>
                </a:lnTo>
                <a:lnTo>
                  <a:pt x="7211783" y="6643856"/>
                </a:lnTo>
                <a:lnTo>
                  <a:pt x="72117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17978" y="-5321385"/>
            <a:ext cx="11252045" cy="1125204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014972" y="1028700"/>
            <a:ext cx="6258055" cy="5147979"/>
          </a:xfrm>
          <a:custGeom>
            <a:avLst/>
            <a:gdLst/>
            <a:ahLst/>
            <a:cxnLst/>
            <a:rect r="r" b="b" t="t" l="l"/>
            <a:pathLst>
              <a:path h="5147979" w="6258055">
                <a:moveTo>
                  <a:pt x="0" y="0"/>
                </a:moveTo>
                <a:lnTo>
                  <a:pt x="6258056" y="0"/>
                </a:lnTo>
                <a:lnTo>
                  <a:pt x="6258056" y="5147979"/>
                </a:lnTo>
                <a:lnTo>
                  <a:pt x="0" y="5147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770022" y="1837276"/>
            <a:ext cx="1765414" cy="17654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10089" y="3602690"/>
            <a:ext cx="1307889" cy="13078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B1DFA">
                    <a:alpha val="100000"/>
                  </a:srgbClr>
                </a:gs>
                <a:gs pos="100000">
                  <a:srgbClr val="3F05E2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50223" y="6902813"/>
            <a:ext cx="13187554" cy="16287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2599"/>
              </a:lnSpc>
            </a:pPr>
            <a:r>
              <a:rPr sz="5000" b="1">
                <a:solidFill>
                  <a:srgbClr val="FFFFFF"/>
                </a:solidFill>
                <a:latin typeface="Brick Sans"/>
              </a:rPr>
              <a:t>TERIMA KASIH</a:t>
            </a:r>
          </a:p>
          <a:p>
            <a:r>
              <a:rPr sz="5000" b="1">
                <a:solidFill>
                  <a:srgbClr val="FFFFFF"/>
                </a:solidFill>
                <a:latin typeface="Brick Sans"/>
              </a:rPr>
              <a:t/>
            </a:r>
          </a:p>
          <a:p>
            <a:r>
              <a:rPr sz="5000" b="1">
                <a:solidFill>
                  <a:srgbClr val="FFFFFF"/>
                </a:solidFill>
                <a:latin typeface="Brick Sans"/>
              </a:rPr>
              <a:t>SESI DEMONSTRASI &amp; DEFENSE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9602695" y="7205529"/>
            <a:ext cx="12466728" cy="1326059"/>
            <a:chOff x="0" y="0"/>
            <a:chExt cx="6566836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350" y="0"/>
              <a:ext cx="6560136" cy="698500"/>
            </a:xfrm>
            <a:custGeom>
              <a:avLst/>
              <a:gdLst/>
              <a:ahLst/>
              <a:cxnLst/>
              <a:rect r="r" b="b" t="t" l="l"/>
              <a:pathLst>
                <a:path h="698500" w="6560136">
                  <a:moveTo>
                    <a:pt x="6557240" y="359985"/>
                  </a:moveTo>
                  <a:lnTo>
                    <a:pt x="6366533" y="687765"/>
                  </a:lnTo>
                  <a:cubicBezTo>
                    <a:pt x="6362665" y="694411"/>
                    <a:pt x="6355556" y="698500"/>
                    <a:pt x="6347866" y="698500"/>
                  </a:cubicBezTo>
                  <a:lnTo>
                    <a:pt x="212270" y="698500"/>
                  </a:lnTo>
                  <a:cubicBezTo>
                    <a:pt x="204581" y="698500"/>
                    <a:pt x="197471" y="694411"/>
                    <a:pt x="193604" y="687765"/>
                  </a:cubicBezTo>
                  <a:lnTo>
                    <a:pt x="2896" y="359985"/>
                  </a:lnTo>
                  <a:cubicBezTo>
                    <a:pt x="-965" y="353349"/>
                    <a:pt x="-965" y="345151"/>
                    <a:pt x="2896" y="338515"/>
                  </a:cubicBezTo>
                  <a:lnTo>
                    <a:pt x="193604" y="10735"/>
                  </a:lnTo>
                  <a:cubicBezTo>
                    <a:pt x="197471" y="4089"/>
                    <a:pt x="204581" y="0"/>
                    <a:pt x="212270" y="0"/>
                  </a:cubicBezTo>
                  <a:lnTo>
                    <a:pt x="6347866" y="0"/>
                  </a:lnTo>
                  <a:cubicBezTo>
                    <a:pt x="6355556" y="0"/>
                    <a:pt x="6362665" y="4089"/>
                    <a:pt x="6366533" y="10735"/>
                  </a:cubicBezTo>
                  <a:lnTo>
                    <a:pt x="6557240" y="338515"/>
                  </a:lnTo>
                  <a:cubicBezTo>
                    <a:pt x="6561101" y="345151"/>
                    <a:pt x="6561101" y="353349"/>
                    <a:pt x="6557240" y="35998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38100"/>
              <a:ext cx="633823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878919" y="7159988"/>
            <a:ext cx="12466728" cy="1326059"/>
            <a:chOff x="0" y="0"/>
            <a:chExt cx="6566836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350" y="0"/>
              <a:ext cx="6560136" cy="698500"/>
            </a:xfrm>
            <a:custGeom>
              <a:avLst/>
              <a:gdLst/>
              <a:ahLst/>
              <a:cxnLst/>
              <a:rect r="r" b="b" t="t" l="l"/>
              <a:pathLst>
                <a:path h="698500" w="6560136">
                  <a:moveTo>
                    <a:pt x="6557240" y="359985"/>
                  </a:moveTo>
                  <a:lnTo>
                    <a:pt x="6366533" y="687765"/>
                  </a:lnTo>
                  <a:cubicBezTo>
                    <a:pt x="6362665" y="694411"/>
                    <a:pt x="6355556" y="698500"/>
                    <a:pt x="6347866" y="698500"/>
                  </a:cubicBezTo>
                  <a:lnTo>
                    <a:pt x="212270" y="698500"/>
                  </a:lnTo>
                  <a:cubicBezTo>
                    <a:pt x="204581" y="698500"/>
                    <a:pt x="197471" y="694411"/>
                    <a:pt x="193604" y="687765"/>
                  </a:cubicBezTo>
                  <a:lnTo>
                    <a:pt x="2896" y="359985"/>
                  </a:lnTo>
                  <a:cubicBezTo>
                    <a:pt x="-965" y="353349"/>
                    <a:pt x="-965" y="345151"/>
                    <a:pt x="2896" y="338515"/>
                  </a:cubicBezTo>
                  <a:lnTo>
                    <a:pt x="193604" y="10735"/>
                  </a:lnTo>
                  <a:cubicBezTo>
                    <a:pt x="197471" y="4089"/>
                    <a:pt x="204581" y="0"/>
                    <a:pt x="212270" y="0"/>
                  </a:cubicBezTo>
                  <a:lnTo>
                    <a:pt x="6347866" y="0"/>
                  </a:lnTo>
                  <a:cubicBezTo>
                    <a:pt x="6355556" y="0"/>
                    <a:pt x="6362665" y="4089"/>
                    <a:pt x="6366533" y="10735"/>
                  </a:cubicBezTo>
                  <a:lnTo>
                    <a:pt x="6557240" y="338515"/>
                  </a:lnTo>
                  <a:cubicBezTo>
                    <a:pt x="6561101" y="345151"/>
                    <a:pt x="6561101" y="353349"/>
                    <a:pt x="6557240" y="35998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C21">
                    <a:alpha val="100000"/>
                  </a:srgbClr>
                </a:gs>
                <a:gs pos="100000">
                  <a:srgbClr val="FF6F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38100"/>
              <a:ext cx="633823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DAHZHR3DlX8</dc:identifier>
  <dcterms:modified xsi:type="dcterms:W3CDTF">2011-08-01T06:04:30Z</dcterms:modified>
  <cp:revision>1</cp:revision>
  <dc:title>Disusun Oleh:</dc:title>
</cp:coreProperties>
</file>